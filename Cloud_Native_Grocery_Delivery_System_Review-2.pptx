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  <p:sldId id="905" r:id="rId12"/>
    <p:sldId id="906" r:id="rId13"/>
    <p:sldId id="9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23/09/2026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7893271" y="4300000"/>
          <a:ext cx="3702050" cy="175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75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Vamsidhar – 2420030341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Sri Ram – 2420030192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Nitesh Thammu – 2420030590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738280" y="4167049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643570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P. Srilatha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Grocery Delivery System with Intelligent Budget Guardian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550000"/>
            <a:ext cx="10715625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Online grocery platforms focus on browsing, cart management, ordering, payment, and delivery, with little support for spending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often overspend because there is no real-time visibility into cumulative cart cost while shopping.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Grocery budgets are usually tracked manually or through separate apps, disconnected from the actual shopping 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platforms rarely suggest cheaper alternatives, so cost-effective purchasing decisions are left entirely to the 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cloud-native system is needed that integrates grocery delivery with proactive, real-time budget management.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550000"/>
            <a:ext cx="10715625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 a cloud-native platform for grocery browsing, cart management, ordering, and secure payment.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Allow users to set a personal grocery budget before or during shopping.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 cart spending in real time as items are added or removed.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Alert users proactively as spending approaches or exceeds the set budget.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Recommend cheaper or comparable alternatives to support cost-effective purchasing decisions.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Ensure the system is scalable and reliable using a cloud-native microservices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Literature Table"/>
          <p:cNvGraphicFramePr>
            <a:graphicFrameLocks noGrp="1"/>
          </p:cNvGraphicFramePr>
          <p:nvPr/>
        </p:nvGraphicFramePr>
        <p:xfrm>
          <a:off x="274646" y="900000"/>
          <a:ext cx="11642705" cy="470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2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Area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Existing Focus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Gap Relevant to This Project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Grocery E-Commerce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Provide browsing, cart, ordering, payment, and delivery tracking.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Budget management is not integrated into the shopping 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Personal Budgeting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Track expenses manually or via bank/SMS import, separate from purchases.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No real-time link to what is currently in a live shopping cart.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Price Comparison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Compare prices for a product across sellers or stores.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Comparisons happen outside the cart, adding friction during checkout.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Cloud-Native E-Commerce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Centralized, scalable data and processing for multiple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Needs an integrated, real-time budget-guardian service within the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750000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project combines grocery delivery, real-time spend tracking, alerts, and smart suggestions in one workflow.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Monitoring spend as items are added lets users course-correct before checkout, not after.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Budget guidance is not a fixed alert; it also considers category-wise limits, price-per-unit, and past purchase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microservices architecture separates user, catalog, cart, budget guardian, order, payment, and notification concerns into manageable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cloud-native approach supports centralized data storage, event-driven communication via Kafka, and independent scaling of each service.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/>
          <p:cNvSpPr txBox="1"/>
          <p:nvPr/>
        </p:nvSpPr>
        <p:spPr>
          <a:xfrm>
            <a:off x="738187" y="1750000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Predictive Budget Pacing:</a:t>
            </a:r>
            <a:r>
              <a:rPr lang="en-US" sz="2000" dirty="0"/>
              <a:t> Estimate when the budget will run out based on shopping frequency and cart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Smart Alternative Ranking:</a:t>
            </a:r>
            <a:r>
              <a:rPr lang="en-US" sz="2000" dirty="0"/>
              <a:t> Rank cheaper substitutes by price-per-unit, category fit, and purchase 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Category-Wise Budgets:</a:t>
            </a:r>
            <a:r>
              <a:rPr lang="en-US" sz="2000" dirty="0"/>
              <a:t> Let users allocate budget across categories like produce, dairy, and snacks.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Event-Driven Architecture:</a:t>
            </a:r>
            <a:r>
              <a:rPr lang="en-US" sz="2000" dirty="0"/>
              <a:t> Stream cart changes via Kafka for instant budget checks and alerts.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Spend Analytics Dashboard:</a:t>
            </a:r>
            <a:r>
              <a:rPr lang="en-US" sz="2000" dirty="0"/>
              <a:t> Visualize spend trends, budget vs. actual, and savings from accepted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938187" y="551058"/>
            <a:ext cx="1031562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Feasibility and Project Plan</a:t>
            </a:r>
          </a:p>
        </p:txBody>
      </p:sp>
      <p:sp>
        <p:nvSpPr>
          <p:cNvPr id="51" name="Feasibility Content"/>
          <p:cNvSpPr txBox="1"/>
          <p:nvPr/>
        </p:nvSpPr>
        <p:spPr>
          <a:xfrm>
            <a:off x="738187" y="1350000"/>
            <a:ext cx="10715625" cy="3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Technical feasibility: React, Java Spring Boot, PostgreSQL/MySQL, Redis, Apache Kafka, REST APIs, Docker, and Kubernetes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Operational feasibility: supports everyday grocery shoppers through budget-aware cart, order, and payment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Scalability: cloud-native microservices on Kubernetes allow each service to scale independently under load.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Expected outcome: reduced overspending, smarter purchasing decisions, and a scalable, reliable grocery delivery platform.</a:t>
            </a:r>
          </a:p>
        </p:txBody>
      </p:sp>
      <p:cxnSp>
        <p:nvCxnSpPr>
          <p:cNvPr id="70" name="Timeline Line"/>
          <p:cNvCxnSpPr/>
          <p:nvPr/>
        </p:nvCxnSpPr>
        <p:spPr>
          <a:xfrm>
            <a:off x="640000" y="5940000"/>
            <a:ext cx="10912000" cy="0"/>
          </a:xfrm>
          <a:prstGeom prst="line">
            <a:avLst/>
          </a:prstGeom>
          <a:ln w="28575">
            <a:solidFill>
              <a:srgbClr val="1F4E79"/>
            </a:solidFill>
          </a:ln>
        </p:spPr>
      </p:cxnSp>
      <p:sp>
        <p:nvSpPr>
          <p:cNvPr id="71" name="Phase 1 Circle"/>
          <p:cNvSpPr/>
          <p:nvPr/>
        </p:nvSpPr>
        <p:spPr>
          <a:xfrm>
            <a:off x="450000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2" name="Phase 1 Label"/>
          <p:cNvSpPr txBox="1"/>
          <p:nvPr/>
        </p:nvSpPr>
        <p:spPr>
          <a:xfrm>
            <a:off x="-135000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Requirements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 + users</a:t>
            </a:r>
          </a:p>
        </p:txBody>
      </p:sp>
      <p:sp>
        <p:nvSpPr>
          <p:cNvPr id="73" name="Phase 2 Circle"/>
          <p:cNvSpPr/>
          <p:nvPr/>
        </p:nvSpPr>
        <p:spPr>
          <a:xfrm>
            <a:off x="2268666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4" name="Phase 2 Label"/>
          <p:cNvSpPr txBox="1"/>
          <p:nvPr/>
        </p:nvSpPr>
        <p:spPr>
          <a:xfrm>
            <a:off x="1683666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Catalog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Product &amp; pricing data</a:t>
            </a:r>
          </a:p>
        </p:txBody>
      </p:sp>
      <p:sp>
        <p:nvSpPr>
          <p:cNvPr id="75" name="Phase 3 Circle"/>
          <p:cNvSpPr/>
          <p:nvPr/>
        </p:nvSpPr>
        <p:spPr>
          <a:xfrm>
            <a:off x="4087333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6" name="Phase 3 Label"/>
          <p:cNvSpPr txBox="1"/>
          <p:nvPr/>
        </p:nvSpPr>
        <p:spPr>
          <a:xfrm>
            <a:off x="3502333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Budget Guardian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Real-time spend tracking</a:t>
            </a:r>
          </a:p>
        </p:txBody>
      </p:sp>
      <p:sp>
        <p:nvSpPr>
          <p:cNvPr id="77" name="Phase 4 Circle"/>
          <p:cNvSpPr/>
          <p:nvPr/>
        </p:nvSpPr>
        <p:spPr>
          <a:xfrm>
            <a:off x="5906000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8" name="Phase 4 Label"/>
          <p:cNvSpPr txBox="1"/>
          <p:nvPr/>
        </p:nvSpPr>
        <p:spPr>
          <a:xfrm>
            <a:off x="5321000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Services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Backend + APIs</a:t>
            </a:r>
          </a:p>
        </p:txBody>
      </p:sp>
      <p:sp>
        <p:nvSpPr>
          <p:cNvPr id="79" name="Phase 5 Circle"/>
          <p:cNvSpPr/>
          <p:nvPr/>
        </p:nvSpPr>
        <p:spPr>
          <a:xfrm>
            <a:off x="7724666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0" name="Phase 5 Label"/>
          <p:cNvSpPr txBox="1"/>
          <p:nvPr/>
        </p:nvSpPr>
        <p:spPr>
          <a:xfrm>
            <a:off x="7139666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UI &amp; Alerts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 UI + notifications</a:t>
            </a:r>
          </a:p>
        </p:txBody>
      </p:sp>
      <p:sp>
        <p:nvSpPr>
          <p:cNvPr id="81" name="Phase 6 Circle"/>
          <p:cNvSpPr/>
          <p:nvPr/>
        </p:nvSpPr>
        <p:spPr>
          <a:xfrm>
            <a:off x="9543333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2" name="Phase 6 Label"/>
          <p:cNvSpPr txBox="1"/>
          <p:nvPr/>
        </p:nvSpPr>
        <p:spPr>
          <a:xfrm>
            <a:off x="8958333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Testing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Integration + evaluation</a:t>
            </a:r>
          </a:p>
        </p:txBody>
      </p:sp>
      <p:sp>
        <p:nvSpPr>
          <p:cNvPr id="83" name="Phase 7 Circle"/>
          <p:cNvSpPr/>
          <p:nvPr/>
        </p:nvSpPr>
        <p:spPr>
          <a:xfrm>
            <a:off x="11362000" y="5750000"/>
            <a:ext cx="380000" cy="3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4" name="Phase 7 Label"/>
          <p:cNvSpPr txBox="1"/>
          <p:nvPr/>
        </p:nvSpPr>
        <p:spPr>
          <a:xfrm>
            <a:off x="10777000" y="6190000"/>
            <a:ext cx="1550000" cy="750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1100" b="1" dirty="0"/>
              <a:t>Deployment</a:t>
            </a:r>
          </a:p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K8s + final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042-9057-C3AF-115C-70DA5BE9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359530-0116-2D0E-D115-FE8032FAE25F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Definition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D9A0B-5F0C-BA55-3919-56C118C4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>
            <a:extLst>
              <a:ext uri="{FF2B5EF4-FFF2-40B4-BE49-F238E27FC236}">
                <a16:creationId xmlns:a16="http://schemas.microsoft.com/office/drawing/2014/main" id="{01008B0B-19A3-13BD-388A-23505ADA4BB1}"/>
              </a:ext>
            </a:extLst>
          </p:cNvPr>
          <p:cNvSpPr txBox="1"/>
          <p:nvPr/>
        </p:nvSpPr>
        <p:spPr>
          <a:xfrm>
            <a:off x="738187" y="1750000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 online grocery platforms focus mainly on </a:t>
            </a:r>
            <a:r>
              <a:rPr lang="en-IN" sz="2000" b="1" dirty="0"/>
              <a:t>product browsing, cart management, ordering, payment, and delivery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Users have limited </a:t>
            </a:r>
            <a:r>
              <a:rPr lang="en-IN" sz="2000" b="1" dirty="0"/>
              <a:t>real-time visibility of their total spending</a:t>
            </a:r>
            <a:r>
              <a:rPr lang="en-IN" sz="2000" dirty="0"/>
              <a:t> while shopping.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Budget tracking is often </a:t>
            </a:r>
            <a:r>
              <a:rPr lang="en-IN" sz="2000" b="1" dirty="0"/>
              <a:t>manual or handled through separate applications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 platforms provide limited support for </a:t>
            </a:r>
            <a:r>
              <a:rPr lang="en-IN" sz="2000" b="1" dirty="0"/>
              <a:t>cheaper product alternatives and cost-effective decisions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Therefore, a </a:t>
            </a:r>
            <a:r>
              <a:rPr lang="en-IN" sz="2000" b="1" dirty="0"/>
              <a:t>cloud-native grocery platform with an integrated Intelligent Budget Guardian</a:t>
            </a:r>
            <a:r>
              <a:rPr lang="en-IN" sz="2000" dirty="0"/>
              <a:t> is required to provide real-time budget monitoring and proactive spending guidance.</a:t>
            </a:r>
          </a:p>
        </p:txBody>
      </p:sp>
    </p:spTree>
    <p:extLst>
      <p:ext uri="{BB962C8B-B14F-4D97-AF65-F5344CB8AC3E}">
        <p14:creationId xmlns:p14="http://schemas.microsoft.com/office/powerpoint/2010/main" val="192962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B84F-1A9D-8E58-51F0-EB5E323E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3E7D35-D2AB-AA65-DF05-605042E76097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Requirements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D62DD-4C5D-3134-7778-1DA406541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>
            <a:extLst>
              <a:ext uri="{FF2B5EF4-FFF2-40B4-BE49-F238E27FC236}">
                <a16:creationId xmlns:a16="http://schemas.microsoft.com/office/drawing/2014/main" id="{FACD0B15-CE33-47EA-C04E-BE52D5B30B29}"/>
              </a:ext>
            </a:extLst>
          </p:cNvPr>
          <p:cNvSpPr txBox="1"/>
          <p:nvPr/>
        </p:nvSpPr>
        <p:spPr>
          <a:xfrm>
            <a:off x="866007" y="1890649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User Authentication:</a:t>
            </a:r>
            <a:r>
              <a:rPr lang="en-IN" sz="2000" dirty="0"/>
              <a:t> Secure user registration and login.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Product </a:t>
            </a:r>
            <a:r>
              <a:rPr lang="en-IN" sz="2000" b="1" dirty="0" err="1"/>
              <a:t>Catalog</a:t>
            </a:r>
            <a:r>
              <a:rPr lang="en-IN" sz="2000" b="1" dirty="0"/>
              <a:t>:</a:t>
            </a:r>
            <a:r>
              <a:rPr lang="en-IN" sz="2000" dirty="0"/>
              <a:t> Browse and search grocery products with pricing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Cart Management:</a:t>
            </a:r>
            <a:r>
              <a:rPr lang="en-IN" sz="2000" dirty="0"/>
              <a:t> Add, remove, and update products while tracking the cart total.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Budget Guardian:</a:t>
            </a:r>
            <a:r>
              <a:rPr lang="en-IN" sz="2000" dirty="0"/>
              <a:t> Set a personal budget and monitor spending in real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Alerts &amp; Suggestions:</a:t>
            </a:r>
            <a:r>
              <a:rPr lang="en-IN" sz="2000" dirty="0"/>
              <a:t> Notify users when they approach/exceed their budget and suggest cheaper alternatives.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Order &amp; Payment:</a:t>
            </a:r>
            <a:r>
              <a:rPr lang="en-IN" sz="2000" dirty="0"/>
              <a:t> Place, track orders, and support secure payments.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Cloud-Native Architecture:</a:t>
            </a:r>
            <a:r>
              <a:rPr lang="en-IN" sz="2000" dirty="0"/>
              <a:t> Use microservices, REST APIs, Docker, Kubernetes, and event-driven communication for scalability and reliability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Monitoring &amp; Deployment:</a:t>
            </a:r>
            <a:r>
              <a:rPr lang="en-IN" sz="2000" dirty="0"/>
              <a:t> Support CI/CD and monitoring using the project technologies specified in the abstract. </a:t>
            </a:r>
          </a:p>
        </p:txBody>
      </p:sp>
    </p:spTree>
    <p:extLst>
      <p:ext uri="{BB962C8B-B14F-4D97-AF65-F5344CB8AC3E}">
        <p14:creationId xmlns:p14="http://schemas.microsoft.com/office/powerpoint/2010/main" val="282134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99150-FE1A-9925-ECF7-F9A7F64C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584ECC-B911-1208-3C60-5EA26F1C8D0D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System Architecture and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D2CF-7775-2697-5CA6-2052BBED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>
            <a:extLst>
              <a:ext uri="{FF2B5EF4-FFF2-40B4-BE49-F238E27FC236}">
                <a16:creationId xmlns:a16="http://schemas.microsoft.com/office/drawing/2014/main" id="{EF9C9B4A-B997-F392-E5AC-384F52279662}"/>
              </a:ext>
            </a:extLst>
          </p:cNvPr>
          <p:cNvSpPr txBox="1"/>
          <p:nvPr/>
        </p:nvSpPr>
        <p:spPr>
          <a:xfrm>
            <a:off x="866007" y="1890649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03E02-8354-8CBD-BE31-1111105E6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6" y="1189901"/>
            <a:ext cx="10715625" cy="560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31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6B9E-1D5F-E6E1-C541-0F44079C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6DB694-C6A5-835C-8641-A50A9C520FC6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Module Wise Description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B8DBB-CD78-BA81-1F25-4FFAB5D61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Content Placeholder 50">
            <a:extLst>
              <a:ext uri="{FF2B5EF4-FFF2-40B4-BE49-F238E27FC236}">
                <a16:creationId xmlns:a16="http://schemas.microsoft.com/office/drawing/2014/main" id="{B7193685-DEDA-E8A8-F0E2-488D182DE52C}"/>
              </a:ext>
            </a:extLst>
          </p:cNvPr>
          <p:cNvSpPr txBox="1"/>
          <p:nvPr/>
        </p:nvSpPr>
        <p:spPr>
          <a:xfrm>
            <a:off x="866007" y="1890649"/>
            <a:ext cx="10715625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User Management:</a:t>
            </a:r>
            <a:r>
              <a:rPr lang="en-IN" sz="2000" dirty="0"/>
              <a:t> Authentication and profile management.</a:t>
            </a:r>
            <a:br>
              <a:rPr lang="en-IN" sz="2000" dirty="0"/>
            </a:br>
            <a:r>
              <a:rPr lang="en-IN" sz="2000" b="1" dirty="0"/>
              <a:t>Product </a:t>
            </a:r>
            <a:r>
              <a:rPr lang="en-IN" sz="2000" b="1" dirty="0" err="1"/>
              <a:t>Catalog</a:t>
            </a:r>
            <a:r>
              <a:rPr lang="en-IN" sz="2000" b="1" dirty="0"/>
              <a:t>:</a:t>
            </a:r>
            <a:r>
              <a:rPr lang="en-IN" sz="2000" dirty="0"/>
              <a:t> Product browsing, search, categories, and pricing.</a:t>
            </a:r>
            <a:br>
              <a:rPr lang="en-IN" sz="2000" dirty="0"/>
            </a:br>
            <a:r>
              <a:rPr lang="en-IN" sz="2000" b="1" dirty="0"/>
              <a:t>Cart Management:</a:t>
            </a:r>
            <a:r>
              <a:rPr lang="en-IN" sz="2000" dirty="0"/>
              <a:t> Add/remove items and real-time cart calculation.</a:t>
            </a:r>
            <a:br>
              <a:rPr lang="en-IN" sz="2000" dirty="0"/>
            </a:br>
            <a:r>
              <a:rPr lang="en-IN" sz="2000" b="1" dirty="0"/>
              <a:t>Budget Guardian:</a:t>
            </a:r>
            <a:r>
              <a:rPr lang="en-IN" sz="2000" dirty="0"/>
              <a:t> Budget setting, spend tracking, alerts, and cheaper alternatives.</a:t>
            </a:r>
            <a:br>
              <a:rPr lang="en-IN" sz="2000" dirty="0"/>
            </a:br>
            <a:r>
              <a:rPr lang="en-IN" sz="2000" b="1" dirty="0"/>
              <a:t>Order Management:</a:t>
            </a:r>
            <a:r>
              <a:rPr lang="en-IN" sz="2000" dirty="0"/>
              <a:t> Order placement and tracking.</a:t>
            </a:r>
            <a:br>
              <a:rPr lang="en-IN" sz="2000" dirty="0"/>
            </a:br>
            <a:r>
              <a:rPr lang="en-IN" sz="2000" b="1" dirty="0"/>
              <a:t>Payment:</a:t>
            </a:r>
            <a:r>
              <a:rPr lang="en-IN" sz="2000" dirty="0"/>
              <a:t> Secure payment processing.</a:t>
            </a:r>
            <a:br>
              <a:rPr lang="en-IN" sz="2000" dirty="0"/>
            </a:br>
            <a:r>
              <a:rPr lang="en-IN" sz="2000" b="1" dirty="0"/>
              <a:t>Notification:</a:t>
            </a:r>
            <a:r>
              <a:rPr lang="en-IN" sz="2000" dirty="0"/>
              <a:t> Budget alerts and order updates.</a:t>
            </a:r>
            <a:br>
              <a:rPr lang="en-IN" sz="2000" dirty="0"/>
            </a:br>
            <a:r>
              <a:rPr lang="en-IN" sz="2000" b="1" dirty="0"/>
              <a:t>Event Communication:</a:t>
            </a:r>
            <a:r>
              <a:rPr lang="en-IN" sz="2000" dirty="0"/>
              <a:t> Kafka-based real-time event processing.</a:t>
            </a:r>
            <a:br>
              <a:rPr lang="en-IN" sz="2000" dirty="0"/>
            </a:br>
            <a:r>
              <a:rPr lang="en-IN" sz="2000" b="1" dirty="0"/>
              <a:t>Data Management:</a:t>
            </a:r>
            <a:r>
              <a:rPr lang="en-IN" sz="2000" dirty="0"/>
              <a:t> PostgreSQL/MySQL for storage and Redis for caching.</a:t>
            </a:r>
            <a:br>
              <a:rPr lang="en-IN" sz="2000" dirty="0"/>
            </a:br>
            <a:r>
              <a:rPr lang="en-IN" sz="2000" b="1" dirty="0"/>
              <a:t>Deployment &amp; Monitoring:</a:t>
            </a:r>
            <a:r>
              <a:rPr lang="en-IN" sz="2000" dirty="0"/>
              <a:t> Docker, Kubernetes, Prometheus, Grafana, and ELK Stack.</a:t>
            </a:r>
          </a:p>
        </p:txBody>
      </p:sp>
    </p:spTree>
    <p:extLst>
      <p:ext uri="{BB962C8B-B14F-4D97-AF65-F5344CB8AC3E}">
        <p14:creationId xmlns:p14="http://schemas.microsoft.com/office/powerpoint/2010/main" val="205748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1010</Words>
  <Application>Microsoft Office PowerPoint</Application>
  <PresentationFormat>Widescreen</PresentationFormat>
  <Paragraphs>128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Vamsidhar K</cp:lastModifiedBy>
  <cp:revision>35</cp:revision>
  <dcterms:created xsi:type="dcterms:W3CDTF">2026-08-08T06:33:56Z</dcterms:created>
  <dcterms:modified xsi:type="dcterms:W3CDTF">2026-09-23T03:04:01Z</dcterms:modified>
</cp:coreProperties>
</file>